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365760"/>
            <a:ext cx="2377440" cy="2377440"/>
          </a:xfrm>
          <a:prstGeom prst="arc">
            <a:avLst>
              <a:gd name="adj1" fmla="val -2700000"/>
              <a:gd name="adj2" fmla="val 2700000"/>
            </a:avLst>
          </a:prstGeom>
          <a:ln w="28575">
            <a:solidFill>
              <a:srgbClr val="3FA7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-137160"/>
            <a:ext cx="3383280" cy="3383280"/>
          </a:xfrm>
          <a:prstGeom prst="arc">
            <a:avLst>
              <a:gd name="adj1" fmla="val -2700000"/>
              <a:gd name="adj2" fmla="val 2700000"/>
            </a:avLst>
          </a:prstGeom>
          <a:ln w="28575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-640080"/>
            <a:ext cx="4389120" cy="4389120"/>
          </a:xfrm>
          <a:prstGeom prst="arc">
            <a:avLst>
              <a:gd name="adj1" fmla="val -2700000"/>
              <a:gd name="adj2" fmla="val 2700000"/>
            </a:avLst>
          </a:prstGeom>
          <a:ln w="28575">
            <a:solidFill>
              <a:srgbClr val="3FA7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-1143000"/>
            <a:ext cx="5394960" cy="5394960"/>
          </a:xfrm>
          <a:prstGeom prst="arc">
            <a:avLst>
              <a:gd name="adj1" fmla="val -2700000"/>
              <a:gd name="adj2" fmla="val 2700000"/>
            </a:avLst>
          </a:prstGeom>
          <a:ln w="2857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13716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SINGLE-CHANNEL RF REMOTE CONTROL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One-Channel RF Remote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Receiver Module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·  Where it works  ·  How it can be used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98932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 MHz  ·  ASK/OOK  ·  Encoder–Decoder Pair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One-Channel RF Remote?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single-channel RF (Radio Frequency) remote system is a two-part wireless switch:
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handheld transmitter (TX)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one ON/OFF command over radio waves to a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module (RX)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switches a single load — a light, motor, lock, or alarm.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channel" means the module controls exactly one output relay — a single press does a single job.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0312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57032" y="2496312"/>
            <a:ext cx="585216" cy="585216"/>
          </a:xfrm>
          <a:prstGeom prst="arc">
            <a:avLst>
              <a:gd name="adj1" fmla="val -2100000"/>
              <a:gd name="adj2" fmla="val 2100000"/>
            </a:avLst>
          </a:prstGeom>
          <a:ln w="28575">
            <a:solidFill>
              <a:srgbClr val="3FA7B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240280"/>
            <a:ext cx="1097280" cy="1097280"/>
          </a:xfrm>
          <a:prstGeom prst="arc">
            <a:avLst>
              <a:gd name="adj1" fmla="val -2100000"/>
              <a:gd name="adj2" fmla="val 2100000"/>
            </a:avLst>
          </a:prstGeom>
          <a:ln w="28575">
            <a:solidFill>
              <a:srgbClr val="3FA7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44968" y="1984248"/>
            <a:ext cx="1609344" cy="1609344"/>
          </a:xfrm>
          <a:prstGeom prst="arc">
            <a:avLst>
              <a:gd name="adj1" fmla="val -2100000"/>
              <a:gd name="adj2" fmla="val 2100000"/>
            </a:avLst>
          </a:prstGeom>
          <a:ln w="28575">
            <a:solidFill>
              <a:srgbClr val="3FA7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0" y="210312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0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9264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4069080"/>
            <a:ext cx="4846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0690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switched: lamp, motor, lock, siren, buzzer…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 of the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Transmitter IC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modulates the 433 MHz carrier signal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Receiver IC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to 433 MHz and demodulates the incoming signal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103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651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IC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button press into a fixed digital code (e.g. HT12E)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IC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received code and activates the output (e.g. HT12D)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8404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4069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1772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(TX &amp; RX)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17720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wire/helix that radiates and captures radio waves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/ Output Driver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66760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connected load once a valid code is decoded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ARCHITECTURE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Transmitter (TX) 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(3–12V)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05456" y="3328416"/>
            <a:ext cx="310896" cy="201168"/>
          </a:xfrm>
          <a:prstGeom prst="rightArrow">
            <a:avLst/>
          </a:prstGeom>
          <a:solidFill>
            <a:srgbClr val="3FA7B3"/>
          </a:solidFill>
          <a:ln/>
        </p:spPr>
      </p:sp>
      <p:sp>
        <p:nvSpPr>
          <p:cNvPr id="7" name="Shape 5"/>
          <p:cNvSpPr/>
          <p:nvPr/>
        </p:nvSpPr>
        <p:spPr>
          <a:xfrm>
            <a:off x="2852928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18304" y="3328416"/>
            <a:ext cx="310896" cy="201168"/>
          </a:xfrm>
          <a:prstGeom prst="rightArrow">
            <a:avLst/>
          </a:prstGeom>
          <a:solidFill>
            <a:srgbClr val="3FA7B3"/>
          </a:solidFill>
          <a:ln/>
        </p:spPr>
      </p:sp>
      <p:sp>
        <p:nvSpPr>
          <p:cNvPr id="10" name="Shape 8"/>
          <p:cNvSpPr/>
          <p:nvPr/>
        </p:nvSpPr>
        <p:spPr>
          <a:xfrm>
            <a:off x="5065776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IC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HT12E)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31152" y="3328416"/>
            <a:ext cx="310896" cy="201168"/>
          </a:xfrm>
          <a:prstGeom prst="rightArrow">
            <a:avLst/>
          </a:prstGeom>
          <a:solidFill>
            <a:srgbClr val="3FA7B3"/>
          </a:solidFill>
          <a:ln/>
        </p:spPr>
      </p:sp>
      <p:sp>
        <p:nvSpPr>
          <p:cNvPr id="13" name="Shape 11"/>
          <p:cNvSpPr/>
          <p:nvPr/>
        </p:nvSpPr>
        <p:spPr>
          <a:xfrm>
            <a:off x="7278624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8624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TX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0" y="3328416"/>
            <a:ext cx="310896" cy="201168"/>
          </a:xfrm>
          <a:prstGeom prst="rightArrow">
            <a:avLst/>
          </a:prstGeom>
          <a:solidFill>
            <a:srgbClr val="3FA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9491472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1472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the button feeds a logic pulse to the encoder, which builds a fixed 12-bit address+data word. The RF transmitter IC uses this word to switch the 433 MHz carrier on and off, and the antenna radiates it as a radio wave.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ARCHITECTURE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 (RX) 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05456" y="3328416"/>
            <a:ext cx="310896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2852928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RX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18304" y="3328416"/>
            <a:ext cx="310896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5065776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IC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HT12D)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31152" y="3328416"/>
            <a:ext cx="310896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7278624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8624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0" y="3328416"/>
            <a:ext cx="310896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9491472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1472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Load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antenna picks up the radio wave; the RF receiver demodulates it back into a digital pulse train. The decoder checks the address bits and, only on a valid match, latches its data output — driving a transistor/relay that switches the load.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691640" cy="2423160"/>
          </a:xfrm>
          <a:prstGeom prst="roundRect">
            <a:avLst>
              <a:gd name="adj" fmla="val 5405"/>
            </a:avLst>
          </a:prstGeom>
          <a:solidFill>
            <a:srgbClr val="2B3670"/>
          </a:solidFill>
          <a:ln/>
        </p:spPr>
      </p:sp>
      <p:sp>
        <p:nvSpPr>
          <p:cNvPr id="5" name="Shape 3"/>
          <p:cNvSpPr/>
          <p:nvPr/>
        </p:nvSpPr>
        <p:spPr>
          <a:xfrm>
            <a:off x="1207008" y="2313432"/>
            <a:ext cx="548640" cy="548640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30175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on the TX is pressed, closing the trigger pin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40864" y="3108960"/>
            <a:ext cx="118872" cy="182880"/>
          </a:xfrm>
          <a:prstGeom prst="rightArrow">
            <a:avLst/>
          </a:prstGeom>
          <a:solidFill>
            <a:srgbClr val="3FA7B3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2057400"/>
            <a:ext cx="1691640" cy="2423160"/>
          </a:xfrm>
          <a:prstGeom prst="roundRect">
            <a:avLst>
              <a:gd name="adj" fmla="val 5405"/>
            </a:avLst>
          </a:prstGeom>
          <a:solidFill>
            <a:srgbClr val="2B3670"/>
          </a:solidFill>
          <a:ln/>
        </p:spPr>
      </p:sp>
      <p:sp>
        <p:nvSpPr>
          <p:cNvPr id="11" name="Shape 9"/>
          <p:cNvSpPr/>
          <p:nvPr/>
        </p:nvSpPr>
        <p:spPr>
          <a:xfrm>
            <a:off x="3035808" y="2313432"/>
            <a:ext cx="548640" cy="548640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78608" y="30175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06040" y="33832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IC builds a fixed digital code word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69664" y="3108960"/>
            <a:ext cx="118872" cy="182880"/>
          </a:xfrm>
          <a:prstGeom prst="rightArrow">
            <a:avLst/>
          </a:prstGeom>
          <a:solidFill>
            <a:srgbClr val="3FA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2057400"/>
            <a:ext cx="1691640" cy="2423160"/>
          </a:xfrm>
          <a:prstGeom prst="roundRect">
            <a:avLst>
              <a:gd name="adj" fmla="val 5405"/>
            </a:avLst>
          </a:prstGeom>
          <a:solidFill>
            <a:srgbClr val="2B3670"/>
          </a:solidFill>
          <a:ln/>
        </p:spPr>
      </p:sp>
      <p:sp>
        <p:nvSpPr>
          <p:cNvPr id="17" name="Shape 15"/>
          <p:cNvSpPr/>
          <p:nvPr/>
        </p:nvSpPr>
        <p:spPr>
          <a:xfrm>
            <a:off x="4864608" y="2313432"/>
            <a:ext cx="548640" cy="548640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07408" y="30175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34840" y="33832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module keys the 433 MHz carrier (ASK/OOK)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98464" y="3108960"/>
            <a:ext cx="118872" cy="182880"/>
          </a:xfrm>
          <a:prstGeom prst="rightArrow">
            <a:avLst/>
          </a:prstGeom>
          <a:solidFill>
            <a:srgbClr val="3FA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2057400"/>
            <a:ext cx="1691640" cy="2423160"/>
          </a:xfrm>
          <a:prstGeom prst="roundRect">
            <a:avLst>
              <a:gd name="adj" fmla="val 5405"/>
            </a:avLst>
          </a:prstGeom>
          <a:solidFill>
            <a:srgbClr val="2B3670"/>
          </a:solidFill>
          <a:ln/>
        </p:spPr>
      </p:sp>
      <p:sp>
        <p:nvSpPr>
          <p:cNvPr id="23" name="Shape 21"/>
          <p:cNvSpPr/>
          <p:nvPr/>
        </p:nvSpPr>
        <p:spPr>
          <a:xfrm>
            <a:off x="6693408" y="2313432"/>
            <a:ext cx="548640" cy="548640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24" name="Text 22"/>
          <p:cNvSpPr/>
          <p:nvPr/>
        </p:nvSpPr>
        <p:spPr>
          <a:xfrm>
            <a:off x="6693408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36208" y="30175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63640" y="33832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radiates the coded RF signal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27264" y="3108960"/>
            <a:ext cx="118872" cy="182880"/>
          </a:xfrm>
          <a:prstGeom prst="rightArrow">
            <a:avLst/>
          </a:prstGeom>
          <a:solidFill>
            <a:srgbClr val="3FA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7955280" y="2057400"/>
            <a:ext cx="1691640" cy="2423160"/>
          </a:xfrm>
          <a:prstGeom prst="roundRect">
            <a:avLst>
              <a:gd name="adj" fmla="val 5405"/>
            </a:avLst>
          </a:prstGeom>
          <a:solidFill>
            <a:srgbClr val="2B3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8522208" y="2313432"/>
            <a:ext cx="548640" cy="548640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30" name="Text 28"/>
          <p:cNvSpPr/>
          <p:nvPr/>
        </p:nvSpPr>
        <p:spPr>
          <a:xfrm>
            <a:off x="8522208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65008" y="30175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092440" y="33832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antenna &amp; module capture and demodulate 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656064" y="3108960"/>
            <a:ext cx="118872" cy="182880"/>
          </a:xfrm>
          <a:prstGeom prst="rightArrow">
            <a:avLst/>
          </a:prstGeom>
          <a:solidFill>
            <a:srgbClr val="3FA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9784080" y="2057400"/>
            <a:ext cx="1691640" cy="2423160"/>
          </a:xfrm>
          <a:prstGeom prst="roundRect">
            <a:avLst>
              <a:gd name="adj" fmla="val 5405"/>
            </a:avLst>
          </a:prstGeom>
          <a:solidFill>
            <a:srgbClr val="2B367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51008" y="231343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10351008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893808" y="30175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Act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921240" y="33832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verifies the code and switches the relay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" y="4800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transmit-to-action latency is typically under 100 milliseconds.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Encoder–Decoder Address Matching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pairs such as HT12E (encoder) / HT12D (decoder) split each transmission into an address and a data field. Both modules must share identical address-pin settings to "talk" to each other — this is what lets several remote/receiver pairs coexist without cross-triggering.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9748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971800"/>
            <a:ext cx="52578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(TX side)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 address pins → set a unique ID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 data pins → carry the button's bit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Serial-out pin → feeds the TX module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937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code re-sent while held down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269748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971800"/>
            <a:ext cx="52578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269748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69748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(RX side)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4290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 address pins → must match encoder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3931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Compares incoming vs local address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4434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VT (valid transmission) pin flags a match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4937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pin output drives the relay/transistor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Technical Specifications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A7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433.92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operating frequency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057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A7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2628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channel (relay)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057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A7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≤100 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8388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Open-field range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3–12 V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voltage (TX/RX)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8862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ASK/OOK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26280" y="4937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scheme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38862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&lt;100 ms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83880" y="4937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latency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figures vary by module grade, antenna design, and local RF regulations (e.g. FCC/ETSI limits).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Modulation: How the Code Rides the Carrier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low-cost modules use ASK/OOK (Amplitude Shift Keying / On-Off Keying): the carrier is simply switched on for a binary '1' and off for a '0'. This keeps the transmitter circuit extremely simple and cheap.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2788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1152144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375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29968" y="3017520"/>
            <a:ext cx="1152144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029968" y="33375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36976" y="2651760"/>
            <a:ext cx="1152144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236976" y="33375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43984" y="2651760"/>
            <a:ext cx="1152144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443984" y="33375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50992" y="3017520"/>
            <a:ext cx="1152144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650992" y="33375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3017520"/>
            <a:ext cx="1152144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3375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5008" y="2651760"/>
            <a:ext cx="1152144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33375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72016" y="3017520"/>
            <a:ext cx="1152144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272016" y="33375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carrier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4128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25296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426464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627632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828800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029968" y="4389120"/>
            <a:ext cx="1152144" cy="0"/>
          </a:xfrm>
          <a:prstGeom prst="line">
            <a:avLst/>
          </a:prstGeom>
          <a:noFill/>
          <a:ln w="19050">
            <a:solidFill>
              <a:srgbClr val="C7D3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6976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3438144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3639312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3840480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4041648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4242816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4443984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4645152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4846320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5047488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5248656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5449824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42" name="Shape 40"/>
          <p:cNvSpPr/>
          <p:nvPr/>
        </p:nvSpPr>
        <p:spPr>
          <a:xfrm>
            <a:off x="5650992" y="4389120"/>
            <a:ext cx="1152144" cy="0"/>
          </a:xfrm>
          <a:prstGeom prst="line">
            <a:avLst/>
          </a:prstGeom>
          <a:noFill/>
          <a:ln w="19050">
            <a:solidFill>
              <a:srgbClr val="C7D3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0" y="4389120"/>
            <a:ext cx="1152144" cy="0"/>
          </a:xfrm>
          <a:prstGeom prst="line">
            <a:avLst/>
          </a:prstGeom>
          <a:noFill/>
          <a:ln w="19050">
            <a:solidFill>
              <a:srgbClr val="C7D3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65008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45" name="Shape 43"/>
          <p:cNvSpPr/>
          <p:nvPr/>
        </p:nvSpPr>
        <p:spPr>
          <a:xfrm>
            <a:off x="8266176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46" name="Shape 44"/>
          <p:cNvSpPr/>
          <p:nvPr/>
        </p:nvSpPr>
        <p:spPr>
          <a:xfrm>
            <a:off x="8467344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47" name="Shape 45"/>
          <p:cNvSpPr/>
          <p:nvPr/>
        </p:nvSpPr>
        <p:spPr>
          <a:xfrm>
            <a:off x="8668512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48" name="Shape 46"/>
          <p:cNvSpPr/>
          <p:nvPr/>
        </p:nvSpPr>
        <p:spPr>
          <a:xfrm>
            <a:off x="8869680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49" name="Shape 47"/>
          <p:cNvSpPr/>
          <p:nvPr/>
        </p:nvSpPr>
        <p:spPr>
          <a:xfrm>
            <a:off x="9070848" y="3886200"/>
            <a:ext cx="182880" cy="502920"/>
          </a:xfrm>
          <a:prstGeom prst="rect">
            <a:avLst/>
          </a:prstGeom>
          <a:solidFill>
            <a:srgbClr val="3FA7B3"/>
          </a:solidFill>
          <a:ln/>
        </p:spPr>
      </p:sp>
      <p:sp>
        <p:nvSpPr>
          <p:cNvPr id="50" name="Shape 48"/>
          <p:cNvSpPr/>
          <p:nvPr/>
        </p:nvSpPr>
        <p:spPr>
          <a:xfrm>
            <a:off x="9272016" y="4389120"/>
            <a:ext cx="1152144" cy="0"/>
          </a:xfrm>
          <a:prstGeom prst="line">
            <a:avLst/>
          </a:prstGeom>
          <a:noFill/>
          <a:ln w="19050">
            <a:solidFill>
              <a:srgbClr val="C7D3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ON = burst of RF energy (logic 1)      Carrier OFF = silence (logic 0)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53949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samples the carrier at the same bit rate and rebuilds the address+data word to compare against its own address.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One-Channel RF Remote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214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/ gate automation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0168" y="21214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630168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lighting on-off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088" y="212140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door lock latch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19202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08008" y="21214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9208008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9720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siren / alarm trigger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9959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663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doorbell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30168" y="399592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3630168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11880" y="4663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motor start-stop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9088" y="39959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4663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toy / model single function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06840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08008" y="39959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9208008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89720" y="4663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central-lock style switch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Set It Up and Use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87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receiver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9169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RX module VCC/GND to supply, data-out to decoder, relay to the load.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0574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587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the transmitter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9169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battery (typically a 12V A23 or 3V coin cell) into the fob.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0574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587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address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29169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same address-pin pattern (or run the pairing routine) on TX and RX.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7033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233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the antenna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5628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TX and RX antennas straight and away from metal for best range.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520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7033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4233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link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5628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button and confirm the relay clicks/LED lights within line of sight.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520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37033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4233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 final site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45628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receiver near the load; carry the fob as the everyday remote.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RF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Over Wired or IR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line-of-sight needed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3500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through walls, doors, and around corners — unlike infrared.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057400"/>
            <a:ext cx="457200" cy="457200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component cost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3500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TX/RX pair typically costs less than a dollar in volume.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47872"/>
            <a:ext cx="457200" cy="457200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integrate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840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few pins: power, data, and an antenna wire.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547872"/>
            <a:ext cx="457200" cy="457200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 draw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3840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transmitter draws current only while the button is pressed.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38344"/>
            <a:ext cx="457200" cy="457200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range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53309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to a hundred metres in open air, adjustable via antenna design.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5038344"/>
            <a:ext cx="457200" cy="457200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49469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pairs coexist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53309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addresses let several remote/receiver sets share a space.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to Plan Around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Fixed-code cloning risk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HT12E-style codes can be captured and replayed; use rolling-code ICs for security-critical locks.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4884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1488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output only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2697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channel = one action; multi-function control needs a multi-channel module.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16052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1605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433 MHz devices, Wi-Fi harmonics, and metal enclosures can reduce range or cause misfires.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16052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1605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limits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37960" y="47091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power and duty cycle must stay within local RF regulations (FCC/ETSI/WPC).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2011680" cy="2011680"/>
          </a:xfrm>
          <a:prstGeom prst="arc">
            <a:avLst>
              <a:gd name="adj1" fmla="val 8100000"/>
              <a:gd name="adj2" fmla="val 13500000"/>
            </a:avLst>
          </a:prstGeom>
          <a:ln w="25400">
            <a:solidFill>
              <a:srgbClr val="3FA7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931920"/>
            <a:ext cx="2926080" cy="2926080"/>
          </a:xfrm>
          <a:prstGeom prst="arc">
            <a:avLst>
              <a:gd name="adj1" fmla="val 8100000"/>
              <a:gd name="adj2" fmla="val 13500000"/>
            </a:avLst>
          </a:prstGeom>
          <a:ln w="254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3840480" cy="3840480"/>
          </a:xfrm>
          <a:prstGeom prst="arc">
            <a:avLst>
              <a:gd name="adj1" fmla="val 8100000"/>
              <a:gd name="adj2" fmla="val 13500000"/>
            </a:avLst>
          </a:prstGeom>
          <a:ln w="25400">
            <a:solidFill>
              <a:srgbClr val="3FA7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3017520"/>
            <a:ext cx="4754880" cy="4754880"/>
          </a:xfrm>
          <a:prstGeom prst="arc">
            <a:avLst>
              <a:gd name="adj1" fmla="val 8100000"/>
              <a:gd name="adj2" fmla="val 13500000"/>
            </a:avLst>
          </a:prstGeom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Button, One Radio Link,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Reliable Action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91840" y="324612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30632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a button triggers an encoder, an RF pair carries the code, a decoder verifies it and fires a relay.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91840" y="393192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3749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garages, gates, lighting, locks, alarms, doorbells, and simple industrial or hobby switching.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91840" y="461772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44348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use: match TX/RX addresses, mount antennas clear of metal, power up, and press to control.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566160" y="562356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5760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FA7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2026-09-26T00:37:55Z</dcterms:created>
  <dcterms:modified xsi:type="dcterms:W3CDTF">2026-09-26T00:37:55Z</dcterms:modified>
</cp:coreProperties>
</file>