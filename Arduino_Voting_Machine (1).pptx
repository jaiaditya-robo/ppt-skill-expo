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Arduino-Based Electronic Voting Machine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Candidates  •  NOTA  •  50 Roll Numbers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presentation: prototype, working, uses and limitations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Prototype?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electronic voting machine built on an Arduino UNO R3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16×2 I2C LCD, 4×4 membrane keypad, blue LED and buzzer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run a classroom election electronically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up to 50 roll numbers, 8 candidates and NOTA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each vote, counts automatically and shows the winner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operated from a single keypad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Main Features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accept selections, record and count votes, handle absent voters and NOTA, show results and identify the top candidate.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numbers 1 to 50, one vote each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candidates plus NOTA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voter skipping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LED and buzzer confirmation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20116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instructions and results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end of voting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Candidate-wise, overall and winner display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START button; normal power switch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Required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2286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UNO R3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16×2 I2C LCD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4×4 Membrane Keypad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 Ω Resistor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Jumper wires, breadboard, USB cable / power supply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required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Connections &amp; Block Diagram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4206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Pin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D2–D5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Keypad R1–R4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D6–D9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Keypad C1–C4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LED via 220 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 (+)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 / A5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SDA / SCL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5V / GND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power; GND to LED, buzzer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188720"/>
            <a:ext cx="3383280" cy="640080"/>
          </a:xfrm>
          <a:prstGeom prst="roundRect">
            <a:avLst>
              <a:gd name="adj" fmla="val 14286"/>
            </a:avLst>
          </a:prstGeom>
          <a:solidFill>
            <a:srgbClr val="EEF3F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212080" y="11887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4×4 Keypad (input)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212080" y="2194560"/>
            <a:ext cx="3383280" cy="822960"/>
          </a:xfrm>
          <a:prstGeom prst="roundRect">
            <a:avLst>
              <a:gd name="adj" fmla="val 11111"/>
            </a:avLst>
          </a:prstGeom>
          <a:solidFill>
            <a:srgbClr val="1E2A4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212080" y="21945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control • counting • results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3063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212080" y="3429000"/>
            <a:ext cx="1042416" cy="548640"/>
          </a:xfrm>
          <a:prstGeom prst="roundRect">
            <a:avLst>
              <a:gd name="adj" fmla="val 16667"/>
            </a:avLst>
          </a:prstGeom>
          <a:solidFill>
            <a:srgbClr val="EEF3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212080" y="342900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82512" y="3429000"/>
            <a:ext cx="1042416" cy="548640"/>
          </a:xfrm>
          <a:prstGeom prst="roundRect">
            <a:avLst>
              <a:gd name="adj" fmla="val 16667"/>
            </a:avLst>
          </a:prstGeom>
          <a:solidFill>
            <a:srgbClr val="EEF3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82512" y="342900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552944" y="3429000"/>
            <a:ext cx="1042416" cy="548640"/>
          </a:xfrm>
          <a:prstGeom prst="roundRect">
            <a:avLst>
              <a:gd name="adj" fmla="val 16667"/>
            </a:avLst>
          </a:prstGeom>
          <a:solidFill>
            <a:srgbClr val="EEF3F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552944" y="342900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I2C address in code: 0x27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Keypad Functions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572000"/>
                <a:gridCol w="23774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Candidate 1–8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NOTA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absent voter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selected vote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voting immediately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election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voting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results screen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voting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Candidate-wise results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winner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Operates: Start to Vote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463040" cy="1828800"/>
          </a:xfrm>
          <a:prstGeom prst="roundRect">
            <a:avLst>
              <a:gd name="adj" fmla="val 6250"/>
            </a:avLst>
          </a:prstGeom>
          <a:solidFill>
            <a:srgbClr val="EE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/ FOR VOTING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76272" y="1280160"/>
            <a:ext cx="1463040" cy="1828800"/>
          </a:xfrm>
          <a:prstGeom prst="roundRect">
            <a:avLst>
              <a:gd name="adj" fmla="val 6250"/>
            </a:avLst>
          </a:prstGeom>
          <a:solidFill>
            <a:srgbClr val="EEF3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76272" y="1371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176272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#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267712" y="22860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STARTED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03904" y="1280160"/>
            <a:ext cx="1463040" cy="1828800"/>
          </a:xfrm>
          <a:prstGeom prst="roundRect">
            <a:avLst>
              <a:gd name="adj" fmla="val 6250"/>
            </a:avLst>
          </a:prstGeom>
          <a:solidFill>
            <a:srgbClr val="EEF3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803904" y="1371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803904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895344" y="22860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1 appears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31536" y="1280160"/>
            <a:ext cx="1463040" cy="1828800"/>
          </a:xfrm>
          <a:prstGeom prst="roundRect">
            <a:avLst>
              <a:gd name="adj" fmla="val 6250"/>
            </a:avLst>
          </a:prstGeom>
          <a:solidFill>
            <a:srgbClr val="EEF3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31536" y="1371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431536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522976" y="22860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1–8, or 9 for NOTA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59168" y="1280160"/>
            <a:ext cx="1463040" cy="1828800"/>
          </a:xfrm>
          <a:prstGeom prst="roundRect">
            <a:avLst>
              <a:gd name="adj" fmla="val 6250"/>
            </a:avLst>
          </a:prstGeom>
          <a:solidFill>
            <a:srgbClr val="EEF3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59168" y="1371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B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50608" y="22860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+ beep, VOTE RECORDED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474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about one second the machine moves to the next roll number. Repeat until the last voter.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Situations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E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voter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A. The roll number is skipped, no vote is counted, and the next roll appears.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EF3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0916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9, then B. Counted in a separate NOTA counter.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EF3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944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without choice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375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vote recorded. LCD says SELECT CANDIDATE FIRST.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83464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EF3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09160" y="2944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ending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3375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D during voting to end at once. Roll 50 also ends voting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Results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ends: LCD shows VOTING COMPLETE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*: THANK YOU FOR VOTING, then results are unlocked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each candidate and NOTA shown in turn (about 2 s each)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overall totals in groups, since the LCD has 16 columns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 winner with vote count, or TIE if top scores are equal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selected counter rises per vote; skipped rolls add nothing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Can Be Used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E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monitor, house captain and student council elections.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EF3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0916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representative and club or society elections.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EF3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944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Exhibitions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375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of how electronic voting works.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83464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EF3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09160" y="2944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labs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3375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Arduino, keypads, LCDs and vote counting logic.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E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election day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starts with #, calls roll numbers, and each student votes in turn.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EF3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0916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Absentees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A for missing students so the election continues smoothly.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EF3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944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Time-limited voting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375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period ends early, press D and view results for votes so far.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83464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EF3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09160" y="2944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decisions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3375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choosing a leader get instant results and a clear winner.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It: Operator Guide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circuit and power the Arduino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# to begin; call each roll number in order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 picks 1–8 or 9 for NOTA; operator confirms with 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A only when the voter is absent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D during voting to stop early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voting press *, then C, D and 0 for results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switch off or reset before noting the results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low-cost, easy interface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counting; instant results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NOTA and absent voters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keypad replaces many buttons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64592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prototype, not for official elections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authentication, encryption, audit or tamper resistance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are in working memory; power-off or reset erases them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Arduino voting machine shows how a low-cost system can collect votes, count them automatically, handle absentees and NOTA, and declare a winner, making it ideal for classroom elections and demonstrations.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2026-09-24T16:34:20Z</dcterms:created>
  <dcterms:modified xsi:type="dcterms:W3CDTF">2026-09-24T16:34:20Z</dcterms:modified>
</cp:coreProperties>
</file>